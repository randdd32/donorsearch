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60" r:id="rId4"/>
    <p:sldId id="272" r:id="rId5"/>
    <p:sldId id="273" r:id="rId6"/>
    <p:sldId id="274" r:id="rId7"/>
    <p:sldId id="275" r:id="rId8"/>
    <p:sldId id="283" r:id="rId9"/>
    <p:sldId id="284" r:id="rId10"/>
    <p:sldId id="285" r:id="rId11"/>
    <p:sldId id="276" r:id="rId12"/>
    <p:sldId id="278" r:id="rId13"/>
    <p:sldId id="279" r:id="rId14"/>
    <p:sldId id="280" r:id="rId15"/>
    <p:sldId id="281" r:id="rId16"/>
    <p:sldId id="282" r:id="rId17"/>
    <p:sldId id="286" r:id="rId18"/>
    <p:sldId id="295" r:id="rId19"/>
    <p:sldId id="296" r:id="rId20"/>
    <p:sldId id="297" r:id="rId21"/>
    <p:sldId id="298" r:id="rId22"/>
    <p:sldId id="299" r:id="rId23"/>
    <p:sldId id="288" r:id="rId24"/>
    <p:sldId id="287" r:id="rId25"/>
    <p:sldId id="289" r:id="rId26"/>
    <p:sldId id="290" r:id="rId27"/>
    <p:sldId id="291" r:id="rId28"/>
    <p:sldId id="292" r:id="rId29"/>
    <p:sldId id="293" r:id="rId30"/>
    <p:sldId id="294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4F9E596-529C-D7C7-F5BF-C7C13DB43F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3346ED-A533-C441-6BE7-75FEBCB564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1FA76-930A-4E68-8F18-9BFDD5F6A6AA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B18FA80-2663-7495-9F51-A20B930F12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58E50BF-144C-8E66-1EBF-EE31214B1E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1D540-987B-40D5-8189-33DF14E38B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684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C595F-040F-42F9-9234-8CB21871B41F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1674E1-71AD-4D3A-B30E-DC0CFD19EB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766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674E1-71AD-4D3A-B30E-DC0CFD19EB8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527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674E1-71AD-4D3A-B30E-DC0CFD19EB8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941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798D6-DF58-D60F-C855-197FF9C7F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1C033F-059E-092F-73A0-F0C08E560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32D0EE-C737-C0D2-FC34-445CCCFD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83E7-BD88-402F-90E2-0E341F995818}" type="datetime1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27D2D3-7052-A1DB-D6C6-A760A83A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318C60-600D-A8D5-84DD-ED505EE3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702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00C51-A9B7-77F6-0CCD-B5EE772F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C655AF-BAF7-FF63-4721-0728F21B1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6A775E-0F21-8C4A-DF25-4CFCCCE1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1EA0-44A6-4894-94F5-089ED99DB4C0}" type="datetime1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C882F5-466A-87F2-5346-1412D4342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E50527-0121-A75D-2F68-918B8A8B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11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308C37-D3B2-6278-D2CA-9BC23CB8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9D27EB-EE08-D78C-AE22-D0C992D93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4F9184-68CA-6874-E1FC-74CB2EBCC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F30C-E2C0-4BC4-BD9B-6B9EEB361361}" type="datetime1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291EEA-0A5F-4DA3-67E9-C81ED4DE4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633C5A-3B21-9984-CED5-DEE56B89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230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20ACD-25F5-BED1-772A-0330D9924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804876-1DBD-47D5-4DB9-DF81718E2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9BA87F-F933-CD0B-A104-FF4FB3774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EE7C1C-2D4E-BF4D-BE25-6FB5E69D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8EB8-CD7D-47CA-8A49-59D5E43E7F8B}" type="datetime1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8C9104-ADF3-3455-E473-75E5FC3F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6043C4-5C2B-17FD-A4EF-E5093E21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23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887D9-4FB2-0DF8-A6DE-29D52AA68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02998B-D3C1-118D-AAFC-BF5C365B2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B16C5E-6207-39D4-DA15-D4D75D4C5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F793CDD-5336-0F9A-3BAD-D789915B6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B9462C-9AE1-9E94-C38B-A89F4BF34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023AA3-8518-D939-2C26-FD1AA8112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C48CE-D3CA-4A20-A8CE-2768159CBF74}" type="datetime1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41830D-B7C5-CA51-B2C2-AF5568FE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AA26A17-8D2E-C042-5D9F-F4A4D22C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31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B69A9-CB05-CE5C-B515-43AFB66A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33335B7-0981-6DD9-09C9-93C281E0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ACAAD-C310-40AD-96E1-C038B3DF4697}" type="datetime1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B5DB6D-B572-0E2A-49A4-41913B12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71F62B-C6DB-791C-35FD-D53F9BF4B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51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346CA7C-5357-A5DA-EACB-D02E6522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BA64-FF8E-45EE-A1C1-32A21426B1CF}" type="datetime1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40E6658-8E68-FA63-4508-F4203D3A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3F5803-3E7F-975E-381C-FC5E2FA3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1" y="6259484"/>
            <a:ext cx="522316" cy="461991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CC1CACCF-8269-4153-8ABB-00B2B666CC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427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DB2CC7-74AE-DAA9-45B4-01C980B1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3FDEED-C8D0-94C8-C342-EE0BF9CDF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35F6FF-B75F-8149-AAD0-0682B80CF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1970F0-24C3-E37C-F9B7-FFC76CEA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465D-4D93-4C3B-A97B-AFF57EBB6205}" type="datetime1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A11D74-00D2-0DD0-D4CB-AECCA4AA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589CB2-F871-B538-8CCB-874C5C4B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3BC56-3FA2-FECE-83A2-98EAD6E1B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92BB35A-A938-0FC3-52B6-A4A6F7F90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45EDB9-422F-E9F6-8151-FEA47DE78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3AB150-26A1-44A7-E429-F0889D8E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29E5-6942-4580-879F-8ED6F1877F00}" type="datetime1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184FE2-D996-D5A1-699A-CA2A1056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C30310-8C5E-F873-E8E8-07C215F7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33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6F0DBA-0D7B-0D98-E924-033E7BF7D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535C15-1465-B5FB-A82E-8FB981747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07719A-3BAC-5C69-F404-199DCE17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3292-651E-434C-9BDA-4C7B2C80CAD8}" type="datetime1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D363DD-668E-7CD3-E411-714E53E7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E540D7-9DB2-DFD8-557D-B04C77C62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90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7C22301-D1EC-EF8D-AD29-6F0372B9C4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371658-02F0-F5B6-BB58-D9B7F2301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6746A0-FE26-0FF4-81E5-20AAA899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1F02-FA59-423D-AD9A-9F5750B87827}" type="datetime1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947B5A-6D76-13C8-2C4D-868C48ADA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9CF048-D402-1C40-8354-F90E915B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40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4751E-A637-88CF-A0CF-0A805E79F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C53A36-4545-0FA9-FD93-43094DDF8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2C8E7A-2DBC-04C2-3A34-6EB6C1E0B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5F9B7-F4F8-4B47-B41B-29B88C3DB23E}" type="datetime1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DCBFEC-6067-360F-8B88-3CD9B2590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F77B0A-D97C-B3E1-F149-C6E83F6D5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CACCF-8269-4153-8ABB-00B2B666C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331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49070E-52B1-EDE4-66BC-89C9883E7B27}"/>
              </a:ext>
            </a:extLst>
          </p:cNvPr>
          <p:cNvSpPr txBox="1"/>
          <p:nvPr/>
        </p:nvSpPr>
        <p:spPr>
          <a:xfrm>
            <a:off x="2729964" y="143424"/>
            <a:ext cx="6732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Ульяновский государственный техн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ический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 университет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A095FE-7DFE-16B9-8F30-629E9DE7211F}"/>
              </a:ext>
            </a:extLst>
          </p:cNvPr>
          <p:cNvSpPr txBox="1"/>
          <p:nvPr/>
        </p:nvSpPr>
        <p:spPr>
          <a:xfrm>
            <a:off x="335279" y="1394943"/>
            <a:ext cx="115214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latin typeface="Verdana" panose="020B0604030504040204" pitchFamily="34" charset="0"/>
                <a:ea typeface="Verdana" panose="020B0604030504040204" pitchFamily="34" charset="0"/>
              </a:rPr>
              <a:t>«Разработка программного средства на </a:t>
            </a:r>
            <a:r>
              <a:rPr lang="en-US" sz="4000" b="1" dirty="0">
                <a:latin typeface="Verdana" panose="020B0604030504040204" pitchFamily="34" charset="0"/>
                <a:ea typeface="Verdana" panose="020B0604030504040204" pitchFamily="34" charset="0"/>
              </a:rPr>
              <a:t>Java </a:t>
            </a:r>
            <a:r>
              <a:rPr lang="ru-RU" sz="4000" b="1" dirty="0">
                <a:latin typeface="Verdana" panose="020B0604030504040204" pitchFamily="34" charset="0"/>
                <a:ea typeface="Verdana" panose="020B0604030504040204" pitchFamily="34" charset="0"/>
              </a:rPr>
              <a:t>для подбора комплектующих ЭВМ на предприятии»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5DE69357-7515-B4BC-8B1A-E72B41AA8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6556" y="4376605"/>
            <a:ext cx="4203459" cy="1691640"/>
          </a:xfrm>
        </p:spPr>
        <p:txBody>
          <a:bodyPr>
            <a:normAutofit fontScale="92500" lnSpcReduction="10000"/>
          </a:bodyPr>
          <a:lstStyle/>
          <a:p>
            <a:pPr algn="r">
              <a:lnSpc>
                <a:spcPct val="150000"/>
              </a:lnSpc>
              <a:spcAft>
                <a:spcPts val="1200"/>
              </a:spcAft>
            </a:pPr>
            <a: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Студент: Родионов И.А.</a:t>
            </a:r>
            <a:b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Группа: ПИбд-4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b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Руководитель: </a:t>
            </a:r>
            <a:r>
              <a:rPr lang="ru-RU" sz="1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Згуральская</a:t>
            </a:r>
            <a:r>
              <a:rPr lang="ru-RU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Е.Н.</a:t>
            </a:r>
            <a:br>
              <a:rPr lang="ru-RU" dirty="0"/>
            </a:b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A113E2-B3FE-44AC-863E-288F5E2638B6}"/>
              </a:ext>
            </a:extLst>
          </p:cNvPr>
          <p:cNvSpPr txBox="1"/>
          <p:nvPr/>
        </p:nvSpPr>
        <p:spPr>
          <a:xfrm>
            <a:off x="4916103" y="6047204"/>
            <a:ext cx="2745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Ульяновск, 2026 г.</a:t>
            </a:r>
          </a:p>
        </p:txBody>
      </p:sp>
    </p:spTree>
    <p:extLst>
      <p:ext uri="{BB962C8B-B14F-4D97-AF65-F5344CB8AC3E}">
        <p14:creationId xmlns:p14="http://schemas.microsoft.com/office/powerpoint/2010/main" val="58253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8BBA60-1E1F-E859-7469-97C587D3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2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5D0CA-DD57-E88E-D3D3-4064059CA4C3}"/>
              </a:ext>
            </a:extLst>
          </p:cNvPr>
          <p:cNvSpPr txBox="1"/>
          <p:nvPr/>
        </p:nvSpPr>
        <p:spPr>
          <a:xfrm>
            <a:off x="4795003" y="151637"/>
            <a:ext cx="2601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Актуальность</a:t>
            </a:r>
          </a:p>
        </p:txBody>
      </p:sp>
      <p:pic>
        <p:nvPicPr>
          <p:cNvPr id="9" name="Picture 6" descr="Picture background">
            <a:extLst>
              <a:ext uri="{FF2B5EF4-FFF2-40B4-BE49-F238E27FC236}">
                <a16:creationId xmlns:a16="http://schemas.microsoft.com/office/drawing/2014/main" id="{7127F09E-9A47-26BC-CAC9-061A7DDAA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254" y="1144002"/>
            <a:ext cx="31813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6D3314D-7262-F212-B6D8-FA290416E227}"/>
              </a:ext>
            </a:extLst>
          </p:cNvPr>
          <p:cNvSpPr txBox="1">
            <a:spLocks/>
          </p:cNvSpPr>
          <p:nvPr/>
        </p:nvSpPr>
        <p:spPr>
          <a:xfrm>
            <a:off x="1202215" y="2320764"/>
            <a:ext cx="4010025" cy="76126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Простой оборудования 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AAA25C9-BCA4-30A7-C943-D5F33FD9736E}"/>
              </a:ext>
            </a:extLst>
          </p:cNvPr>
          <p:cNvSpPr txBox="1">
            <a:spLocks/>
          </p:cNvSpPr>
          <p:nvPr/>
        </p:nvSpPr>
        <p:spPr>
          <a:xfrm>
            <a:off x="7105149" y="1144002"/>
            <a:ext cx="4221040" cy="7612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Дорогостоящие закупки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95E00D0-2359-1732-F756-AB816C350997}"/>
              </a:ext>
            </a:extLst>
          </p:cNvPr>
          <p:cNvSpPr txBox="1">
            <a:spLocks/>
          </p:cNvSpPr>
          <p:nvPr/>
        </p:nvSpPr>
        <p:spPr>
          <a:xfrm>
            <a:off x="7210656" y="4736685"/>
            <a:ext cx="4010025" cy="7612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Трудоемкий подбор</a:t>
            </a:r>
          </a:p>
          <a:p>
            <a:pPr algn="ctr">
              <a:lnSpc>
                <a:spcPct val="100000"/>
              </a:lnSpc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деталей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4561C90-054B-7D92-9C5B-4F52CE7F38F8}"/>
              </a:ext>
            </a:extLst>
          </p:cNvPr>
          <p:cNvSpPr txBox="1">
            <a:spLocks/>
          </p:cNvSpPr>
          <p:nvPr/>
        </p:nvSpPr>
        <p:spPr>
          <a:xfrm>
            <a:off x="7185381" y="2705958"/>
            <a:ext cx="4221040" cy="7612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Временные затраты</a:t>
            </a:r>
          </a:p>
          <a:p>
            <a:pPr algn="ctr">
              <a:lnSpc>
                <a:spcPct val="100000"/>
              </a:lnSpc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 логистику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AF42FFF-17C2-407A-697B-005D99D1A512}"/>
              </a:ext>
            </a:extLst>
          </p:cNvPr>
          <p:cNvSpPr txBox="1">
            <a:spLocks/>
          </p:cNvSpPr>
          <p:nvPr/>
        </p:nvSpPr>
        <p:spPr>
          <a:xfrm>
            <a:off x="879828" y="3975418"/>
            <a:ext cx="4221040" cy="7612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Отсутствие средств</a:t>
            </a:r>
          </a:p>
          <a:p>
            <a:pPr algn="ctr">
              <a:lnSpc>
                <a:spcPct val="100000"/>
              </a:lnSpc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автоматизации</a:t>
            </a:r>
          </a:p>
        </p:txBody>
      </p:sp>
    </p:spTree>
    <p:extLst>
      <p:ext uri="{BB962C8B-B14F-4D97-AF65-F5344CB8AC3E}">
        <p14:creationId xmlns:p14="http://schemas.microsoft.com/office/powerpoint/2010/main" val="291492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3C4D-9AE3-4085-C71B-506F1C4E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C380920-794D-422E-BBE6-6CF03202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3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32C09-B69B-E90F-2DD7-82A6516A88DE}"/>
              </a:ext>
            </a:extLst>
          </p:cNvPr>
          <p:cNvSpPr txBox="1"/>
          <p:nvPr/>
        </p:nvSpPr>
        <p:spPr>
          <a:xfrm>
            <a:off x="4726875" y="122447"/>
            <a:ext cx="2738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Цель и задачи</a:t>
            </a:r>
          </a:p>
        </p:txBody>
      </p:sp>
      <p:pic>
        <p:nvPicPr>
          <p:cNvPr id="11" name="Рисунок 10" descr="Изображение выглядит как Графика, круг, графический дизайн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5C4939-F1CC-6EB9-68C9-6BD0DF134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488" y="2655450"/>
            <a:ext cx="3488531" cy="3488531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C1B6942-5F14-121B-9DD3-CD6678156609}"/>
              </a:ext>
            </a:extLst>
          </p:cNvPr>
          <p:cNvSpPr txBox="1">
            <a:spLocks/>
          </p:cNvSpPr>
          <p:nvPr/>
        </p:nvSpPr>
        <p:spPr>
          <a:xfrm>
            <a:off x="343962" y="773167"/>
            <a:ext cx="11367285" cy="19977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ru-RU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Цель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проекта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ru-RU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разработать программный модуль с веб-интерфейсом для поддержки принятия решений по ремонту и замене компьютерного оборудования, что позволит максимально эффективно использовать ресурс аппаратного парка предприятия, заметно сократить финансовые затраты на закупку новых деталей, и минимизировать время простоя рабочих мест.</a:t>
            </a:r>
          </a:p>
          <a:p>
            <a:pPr algn="l">
              <a:lnSpc>
                <a:spcPct val="100000"/>
              </a:lnSpc>
            </a:pPr>
            <a:endParaRPr lang="ru-RU" sz="1800" dirty="0">
              <a:solidFill>
                <a:srgbClr val="004892"/>
              </a:solidFill>
              <a:latin typeface="Montserrat Bold" panose="00000800000000000000"/>
            </a:endParaRPr>
          </a:p>
          <a:p>
            <a:pPr algn="l">
              <a:lnSpc>
                <a:spcPct val="100000"/>
              </a:lnSpc>
            </a:pPr>
            <a:endParaRPr lang="en-US" sz="2800" dirty="0">
              <a:solidFill>
                <a:srgbClr val="004892"/>
              </a:solidFill>
              <a:latin typeface="Montserrat Bold" panose="000008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730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9EC8-3BAA-59FA-BCE9-E59DDD17F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5957907-8B36-AE01-84E1-6121B0CD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4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07503-67E7-7E8B-66E3-C3A85AAD2550}"/>
              </a:ext>
            </a:extLst>
          </p:cNvPr>
          <p:cNvSpPr txBox="1"/>
          <p:nvPr/>
        </p:nvSpPr>
        <p:spPr>
          <a:xfrm>
            <a:off x="4726875" y="122447"/>
            <a:ext cx="2738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Цель и задачи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20EBF-02E9-8059-0000-F3B7B691BDD2}"/>
              </a:ext>
            </a:extLst>
          </p:cNvPr>
          <p:cNvSpPr txBox="1"/>
          <p:nvPr/>
        </p:nvSpPr>
        <p:spPr>
          <a:xfrm>
            <a:off x="250726" y="661286"/>
            <a:ext cx="11790478" cy="5783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600"/>
              </a:spcAft>
            </a:pPr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Задачи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Провести исследование существующих решений в области мониторинга и учета аппаратных средств, анализа конфигураций и проверки совместимости комплектующих.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Сформулировать функциональные и нефункциональные требования к разрабатываемому модулю.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Обосновать экономическую эффективность разрабатываемого модуля.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Разработать архитектуру модуля и определить взаимодействие с существующей системой учёта аппаратных средств через REST API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 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подключение к БД.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Определить модель данных для хранения сведений о характеристиках комплектующих ЭВМ (для обеспечения логики совместимости), результатах сетевого опроса.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Осуществить сбор данных для заполнения базы знаний о характеристиках комплектующих.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Реализовать алгоритм проверки совместимости комплектующих ПК и настройку соответствующих правил. 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Реализовать механизм сетевого сбора информации о состоянии компьютерных устройств.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Разработать алгоритм поиска оптимальных компьютеров-доноров на основе анализа статистики использования, совместимости деталей и данных системы учета.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Разработать интерфейс с целью отображения рекомендаций, предупреждений и аналитических отчётов для ИТ-персонала.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Провести тестирование модуля и оценить корректность рекомендаций по подбору комплектующих.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Подготовить документацию и провести интеграцию модуля в основную систему учёта оборудования предприятия.</a:t>
            </a:r>
          </a:p>
        </p:txBody>
      </p:sp>
    </p:spTree>
    <p:extLst>
      <p:ext uri="{BB962C8B-B14F-4D97-AF65-F5344CB8AC3E}">
        <p14:creationId xmlns:p14="http://schemas.microsoft.com/office/powerpoint/2010/main" val="256198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1D57E-6ADF-AE60-2865-62A5B94B4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B458030-51B9-C782-0AA8-A4E6C8A3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5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2DFF4-73A6-D777-EB61-A6D108683A79}"/>
              </a:ext>
            </a:extLst>
          </p:cNvPr>
          <p:cNvSpPr txBox="1"/>
          <p:nvPr/>
        </p:nvSpPr>
        <p:spPr>
          <a:xfrm>
            <a:off x="4023156" y="131501"/>
            <a:ext cx="4145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Требования к системе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0014A-A2B5-2FE1-5E9B-3B0F3293A7B2}"/>
              </a:ext>
            </a:extLst>
          </p:cNvPr>
          <p:cNvSpPr txBox="1"/>
          <p:nvPr/>
        </p:nvSpPr>
        <p:spPr>
          <a:xfrm>
            <a:off x="200761" y="724663"/>
            <a:ext cx="11790478" cy="502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Автоматизированный мониторинг фактической активности устройств в локальной сети (сетевая доступность и частота использования)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Проверка совместимости комплектующих ЭВМ.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Интеграция с существующей ИТ-инфраструктурой  (корпоративной системой учёта).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Поиск оптимальных компьютеров-доноров на основе анализа статистики использования, совместимости деталей и данных системы учета.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Формирование в веб-интерфейсе предложений и рекомендаций для ИТ-персонала по изъятию конкретных компонентов из простаивающих машин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 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получению компонентов со склада вместо закупки новых деталей.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Бесплатная модель распространения.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Кроссплатформенность (включая возможность сетевого опроса как ПК с ОС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Windows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так и с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Linux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6140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1E43-DD97-4D7E-B79B-69B7C492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E7C834A-808D-AC4C-639E-9E43CEC6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6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3E67C-FAD6-F2DF-100E-5DCD9AB915E4}"/>
              </a:ext>
            </a:extLst>
          </p:cNvPr>
          <p:cNvSpPr txBox="1"/>
          <p:nvPr/>
        </p:nvSpPr>
        <p:spPr>
          <a:xfrm>
            <a:off x="5263888" y="122447"/>
            <a:ext cx="1664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Аналоги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1243FFD-6F73-99D6-E24B-92DDF1BB4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712198"/>
              </p:ext>
            </p:extLst>
          </p:nvPr>
        </p:nvGraphicFramePr>
        <p:xfrm>
          <a:off x="492607" y="703155"/>
          <a:ext cx="10357276" cy="5850695"/>
        </p:xfrm>
        <a:graphic>
          <a:graphicData uri="http://schemas.openxmlformats.org/drawingml/2006/table">
            <a:tbl>
              <a:tblPr/>
              <a:tblGrid>
                <a:gridCol w="1417674">
                  <a:extLst>
                    <a:ext uri="{9D8B030D-6E8A-4147-A177-3AD203B41FA5}">
                      <a16:colId xmlns:a16="http://schemas.microsoft.com/office/drawing/2014/main" val="285939828"/>
                    </a:ext>
                  </a:extLst>
                </a:gridCol>
                <a:gridCol w="1277086">
                  <a:extLst>
                    <a:ext uri="{9D8B030D-6E8A-4147-A177-3AD203B41FA5}">
                      <a16:colId xmlns:a16="http://schemas.microsoft.com/office/drawing/2014/main" val="1939443669"/>
                    </a:ext>
                  </a:extLst>
                </a:gridCol>
                <a:gridCol w="1277086">
                  <a:extLst>
                    <a:ext uri="{9D8B030D-6E8A-4147-A177-3AD203B41FA5}">
                      <a16:colId xmlns:a16="http://schemas.microsoft.com/office/drawing/2014/main" val="1972478432"/>
                    </a:ext>
                  </a:extLst>
                </a:gridCol>
                <a:gridCol w="1277086">
                  <a:extLst>
                    <a:ext uri="{9D8B030D-6E8A-4147-A177-3AD203B41FA5}">
                      <a16:colId xmlns:a16="http://schemas.microsoft.com/office/drawing/2014/main" val="3073758826"/>
                    </a:ext>
                  </a:extLst>
                </a:gridCol>
                <a:gridCol w="1277086">
                  <a:extLst>
                    <a:ext uri="{9D8B030D-6E8A-4147-A177-3AD203B41FA5}">
                      <a16:colId xmlns:a16="http://schemas.microsoft.com/office/drawing/2014/main" val="918751614"/>
                    </a:ext>
                  </a:extLst>
                </a:gridCol>
                <a:gridCol w="1277086">
                  <a:extLst>
                    <a:ext uri="{9D8B030D-6E8A-4147-A177-3AD203B41FA5}">
                      <a16:colId xmlns:a16="http://schemas.microsoft.com/office/drawing/2014/main" val="100304827"/>
                    </a:ext>
                  </a:extLst>
                </a:gridCol>
                <a:gridCol w="1277086">
                  <a:extLst>
                    <a:ext uri="{9D8B030D-6E8A-4147-A177-3AD203B41FA5}">
                      <a16:colId xmlns:a16="http://schemas.microsoft.com/office/drawing/2014/main" val="201963493"/>
                    </a:ext>
                  </a:extLst>
                </a:gridCol>
                <a:gridCol w="1277086">
                  <a:extLst>
                    <a:ext uri="{9D8B030D-6E8A-4147-A177-3AD203B41FA5}">
                      <a16:colId xmlns:a16="http://schemas.microsoft.com/office/drawing/2014/main" val="640184280"/>
                    </a:ext>
                  </a:extLst>
                </a:gridCol>
              </a:tblGrid>
              <a:tr h="5178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Критерии сравнения</a:t>
                      </a:r>
                      <a:endParaRPr lang="ru-RU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AIDA64 Business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Network Inventory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Zabbix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PRTG Network Monitor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PCPartPicker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Конфигур</a:t>
                      </a:r>
                      <a:r>
                        <a:rPr lang="ru-RU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DNS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Разр</a:t>
                      </a:r>
                      <a:r>
                        <a:rPr lang="ru-RU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система</a:t>
                      </a:r>
                      <a:endParaRPr lang="en-US" sz="12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263324"/>
                  </a:ext>
                </a:extLst>
              </a:tr>
              <a:tr h="5178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Назначение системы</a:t>
                      </a:r>
                      <a:endParaRPr lang="ru-RU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Сканер / аудит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Сканер / инвентаризация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Мониторинг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Мониторинг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Проверка совместимости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Проверка совместимости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Поиск доноров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560022"/>
                  </a:ext>
                </a:extLst>
              </a:tr>
              <a:tr h="6656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Глубина данных, собираемых об «железе»</a:t>
                      </a:r>
                      <a:endParaRPr lang="ru-RU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Максимальная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Высокая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Низкая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Низкая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Заранее определенная база знаний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893908"/>
                  </a:ext>
                </a:extLst>
              </a:tr>
              <a:tr h="8134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Отслеживание простоя </a:t>
                      </a:r>
                      <a:endParaRPr lang="ru-RU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Да</a:t>
                      </a:r>
                    </a:p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Uptime, </a:t>
                      </a: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метрики)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Да</a:t>
                      </a:r>
                    </a:p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Uptime, Ping)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latin typeface="Google Sans Text"/>
                        </a:rPr>
                        <a:t>Да (</a:t>
                      </a:r>
                      <a:r>
                        <a:rPr lang="en-US" sz="1200" dirty="0">
                          <a:latin typeface="Google Sans Text"/>
                        </a:rPr>
                        <a:t>U</a:t>
                      </a:r>
                      <a:r>
                        <a:rPr lang="ru-RU" sz="1200" dirty="0" err="1">
                          <a:latin typeface="Google Sans Text"/>
                        </a:rPr>
                        <a:t>ptime</a:t>
                      </a:r>
                      <a:r>
                        <a:rPr lang="ru-RU" sz="1200" dirty="0">
                          <a:latin typeface="Google Sans Text"/>
                        </a:rPr>
                        <a:t>, история доступности, статистика простоя)</a:t>
                      </a:r>
                      <a:endParaRPr lang="ru-RU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150481"/>
                  </a:ext>
                </a:extLst>
              </a:tr>
              <a:tr h="6656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База знаний совместимости</a:t>
                      </a:r>
                      <a:endParaRPr lang="ru-RU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Да (глобальная база)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Да (по товарам магазина)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latin typeface="Google Sans Text"/>
                        </a:rPr>
                        <a:t>Да (локальная база + правила совместимости)</a:t>
                      </a:r>
                      <a:endParaRPr lang="ru-RU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94655"/>
                  </a:ext>
                </a:extLst>
              </a:tr>
              <a:tr h="5178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Поиск «доноров»</a:t>
                      </a:r>
                      <a:endParaRPr lang="ru-RU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Да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390803"/>
                  </a:ext>
                </a:extLst>
              </a:tr>
              <a:tr h="4339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Возможность использования данных 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ITAM / CMDB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Как справочная информация (не влияют на работу алгоритмов)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Как справочная информация 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—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latin typeface="Google Sans Text"/>
                        </a:rPr>
                        <a:t>Да (влияют на рейтинг доноров)</a:t>
                      </a:r>
                      <a:endParaRPr lang="ru-RU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103109"/>
                  </a:ext>
                </a:extLst>
              </a:tr>
              <a:tr h="5178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Кроссплатформенность</a:t>
                      </a:r>
                      <a:endParaRPr lang="ru-RU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Windows-</a:t>
                      </a:r>
                      <a:r>
                        <a:rPr lang="ru-RU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центричен</a:t>
                      </a:r>
                      <a:endParaRPr lang="ru-RU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Только 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Windows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Windows / Linux / macOS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Windows / Linux / macOS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Веб-сайт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Веб-сайт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Веб-интерфейс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722880"/>
                  </a:ext>
                </a:extLst>
              </a:tr>
              <a:tr h="6656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Тип лицензирования</a:t>
                      </a:r>
                      <a:endParaRPr lang="ru-RU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Коммерческое (Лицензия)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Коммерческое (Лицензия)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Open Source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Коммерческое (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Freemium)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Бесплатно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Бесплатно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ru-RU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Бесплатно</a:t>
                      </a:r>
                    </a:p>
                  </a:txBody>
                  <a:tcPr marL="51039" marR="51039" marT="34026" marB="340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588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00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B8B74-5954-6B68-DB75-DA5A06A75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82325E-898C-3386-7B49-18D1D464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7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3934D-9BA4-1E29-D1E3-692397D494C2}"/>
              </a:ext>
            </a:extLst>
          </p:cNvPr>
          <p:cNvSpPr txBox="1"/>
          <p:nvPr/>
        </p:nvSpPr>
        <p:spPr>
          <a:xfrm>
            <a:off x="4528914" y="122447"/>
            <a:ext cx="3134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Стек технологий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B89F0BB-9287-4A6D-35D1-3A216A2E6223}"/>
              </a:ext>
            </a:extLst>
          </p:cNvPr>
          <p:cNvSpPr txBox="1">
            <a:spLocks/>
          </p:cNvSpPr>
          <p:nvPr/>
        </p:nvSpPr>
        <p:spPr>
          <a:xfrm>
            <a:off x="480753" y="679057"/>
            <a:ext cx="11496982" cy="54997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5000"/>
              </a:lnSpc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ОС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развертывание системы): семейство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Linux (Debian, Ubuntu, Astra Linux)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algn="l">
              <a:lnSpc>
                <a:spcPct val="105000"/>
              </a:lnSpc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СУБД: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PostgreSQL</a:t>
            </a: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algn="l">
              <a:lnSpc>
                <a:spcPct val="105000"/>
              </a:lnSpc>
            </a:pP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algn="l">
              <a:lnSpc>
                <a:spcPct val="105000"/>
              </a:lnSpc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Серверная часть:</a:t>
            </a:r>
          </a:p>
          <a:p>
            <a:pPr marL="457200" lvl="0" indent="-45720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Язык программирования: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Java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457200" lvl="0" indent="-45720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Spring Boot Framework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457200" lvl="0" indent="-457200" algn="l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algn="l">
              <a:lnSpc>
                <a:spcPct val="105000"/>
              </a:lnSpc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Клиентская часть:</a:t>
            </a:r>
          </a:p>
          <a:p>
            <a:pPr marL="457200" lvl="0" indent="-45720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Язык программирования: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TypeScript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457200" lvl="0" indent="-45720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React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457200" lvl="0" indent="-457200" algn="l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algn="l">
              <a:lnSpc>
                <a:spcPct val="105000"/>
              </a:lnSpc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Скрипты обработки данных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наполнение БЗ):</a:t>
            </a:r>
          </a:p>
          <a:p>
            <a:pPr marL="457200" lvl="0" indent="-45720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Язык программирования: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Python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457200" lvl="0" indent="-45720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Pandas, BeautifulSoup4, pypartpicker2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lvl="0" algn="l"/>
            <a:endParaRPr lang="ru-RU" sz="2800" dirty="0">
              <a:solidFill>
                <a:srgbClr val="004892"/>
              </a:solidFill>
              <a:latin typeface="Montserrat" panose="00000500000000000000"/>
            </a:endParaRPr>
          </a:p>
          <a:p>
            <a:pPr marL="457200" lvl="0" indent="-457200" algn="l">
              <a:buFont typeface="Arial" panose="020B0604020202020204" pitchFamily="34" charset="0"/>
              <a:buChar char="•"/>
            </a:pPr>
            <a:endParaRPr lang="ru-RU" sz="2800" dirty="0">
              <a:solidFill>
                <a:srgbClr val="004892"/>
              </a:solidFill>
              <a:latin typeface="Montserrat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73756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0BFC-4206-5A7C-F031-0F8E29177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B69856F-E46F-BA2C-39D1-C0FD83E78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8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01153-041E-8257-C819-C0570F3C6DCB}"/>
              </a:ext>
            </a:extLst>
          </p:cNvPr>
          <p:cNvSpPr txBox="1"/>
          <p:nvPr/>
        </p:nvSpPr>
        <p:spPr>
          <a:xfrm>
            <a:off x="1023947" y="109541"/>
            <a:ext cx="10144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Проектирование. Диаграмма вариантов использования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CF858A1-859D-1A48-0C66-7BCD5AF23C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7"/>
          <a:stretch>
            <a:fillRect/>
          </a:stretch>
        </p:blipFill>
        <p:spPr bwMode="auto">
          <a:xfrm>
            <a:off x="752342" y="653216"/>
            <a:ext cx="10144124" cy="607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6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481A-B843-F2A2-F8E1-899EB1F9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7E71DE1-6240-1D79-39E7-F42BE280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CACCF-8269-4153-8ABB-00B2B666CCE5}" type="slidenum">
              <a:rPr lang="ru-RU" smtClean="0"/>
              <a:t>9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6D1C2D-7EE1-E51B-0690-CC8C80798239}"/>
              </a:ext>
            </a:extLst>
          </p:cNvPr>
          <p:cNvSpPr txBox="1"/>
          <p:nvPr/>
        </p:nvSpPr>
        <p:spPr>
          <a:xfrm>
            <a:off x="1023947" y="109541"/>
            <a:ext cx="10144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Проектирование. Диаграмма вариантов использования</a:t>
            </a:r>
          </a:p>
        </p:txBody>
      </p:sp>
      <p:pic>
        <p:nvPicPr>
          <p:cNvPr id="3" name="Рисунок 2" descr="Изображение выглядит как текст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7BD9B0-5AF7-E399-1E9F-9D4AE779F0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40" b="1"/>
          <a:stretch>
            <a:fillRect/>
          </a:stretch>
        </p:blipFill>
        <p:spPr>
          <a:xfrm>
            <a:off x="1390879" y="628039"/>
            <a:ext cx="9410241" cy="612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9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D5AB8-7E5F-15E4-A074-2E3F9E13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FFA9B58-FA55-ACE1-8240-01C28AAE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1" y="6259484"/>
            <a:ext cx="590400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10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56E6B-E6C9-1096-F4FB-9DF24E1CC1FD}"/>
              </a:ext>
            </a:extLst>
          </p:cNvPr>
          <p:cNvSpPr txBox="1"/>
          <p:nvPr/>
        </p:nvSpPr>
        <p:spPr>
          <a:xfrm>
            <a:off x="1023947" y="109541"/>
            <a:ext cx="10144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Проектирование. Диаграмма вариантов использования</a:t>
            </a:r>
          </a:p>
        </p:txBody>
      </p:sp>
      <p:pic>
        <p:nvPicPr>
          <p:cNvPr id="3" name="Рисунок 2" descr="Изображение выглядит как текст, диаграмма, линия, График">
            <a:extLst>
              <a:ext uri="{FF2B5EF4-FFF2-40B4-BE49-F238E27FC236}">
                <a16:creationId xmlns:a16="http://schemas.microsoft.com/office/drawing/2014/main" id="{3356EC4D-CEA0-7C37-6602-729281E73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71" y="909664"/>
            <a:ext cx="11122858" cy="53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9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67332-DDAE-A289-4A75-EE0D591F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720F616-1478-5471-5AD2-BFA64619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1" y="6259484"/>
            <a:ext cx="590400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11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F90C6-502D-549C-56D1-E3B0D1016FF5}"/>
              </a:ext>
            </a:extLst>
          </p:cNvPr>
          <p:cNvSpPr txBox="1"/>
          <p:nvPr/>
        </p:nvSpPr>
        <p:spPr>
          <a:xfrm>
            <a:off x="2297524" y="109541"/>
            <a:ext cx="759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Проектирование.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</a:t>
            </a: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-диаграмма. Легенда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65325B-1862-9525-6505-C2DECD1BF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559" y="571206"/>
            <a:ext cx="10691813" cy="273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 descr="Изображение выглядит как текст, Шрифт, снимок экрана, число">
            <a:extLst>
              <a:ext uri="{FF2B5EF4-FFF2-40B4-BE49-F238E27FC236}">
                <a16:creationId xmlns:a16="http://schemas.microsoft.com/office/drawing/2014/main" id="{660CEEED-44EF-63C5-E0C9-D4F43F3B8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862" y="3458612"/>
            <a:ext cx="6530784" cy="304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6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3CEC6-4626-48B0-7016-CFA37A487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D385ED2-A6B1-DE4E-1DA7-DE100462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90400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12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6B736-48B8-743B-A2DE-5932AC269E1A}"/>
              </a:ext>
            </a:extLst>
          </p:cNvPr>
          <p:cNvSpPr txBox="1"/>
          <p:nvPr/>
        </p:nvSpPr>
        <p:spPr>
          <a:xfrm>
            <a:off x="879686" y="136525"/>
            <a:ext cx="10432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Проектирование.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</a:t>
            </a: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-диаграмма. Правила совместимости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C7695E4-A571-7029-5E3E-B5E7DEF5F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37" y="647483"/>
            <a:ext cx="10691813" cy="273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E53BE3-7BAD-DD61-7362-E49EFF2B8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626" y="3480018"/>
            <a:ext cx="3868748" cy="3109206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9363E83-7856-65C8-2877-C64F22FBFF32}"/>
              </a:ext>
            </a:extLst>
          </p:cNvPr>
          <p:cNvSpPr/>
          <p:nvPr/>
        </p:nvSpPr>
        <p:spPr>
          <a:xfrm>
            <a:off x="10436151" y="1142059"/>
            <a:ext cx="876199" cy="6738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0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B678D-4B50-7BB7-130E-A705579EA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2178264-C39F-9905-8B59-9D0DB440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13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BED8C-B211-D934-5AB5-C93962EC2889}"/>
              </a:ext>
            </a:extLst>
          </p:cNvPr>
          <p:cNvSpPr txBox="1"/>
          <p:nvPr/>
        </p:nvSpPr>
        <p:spPr>
          <a:xfrm>
            <a:off x="1739679" y="104340"/>
            <a:ext cx="8712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Проектирование.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</a:t>
            </a: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-диаграмма. Сетевой опрос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04B4-9354-7E57-AC20-98F6B065C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93" y="698500"/>
            <a:ext cx="10691813" cy="273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636A9B2-903C-0473-E000-6ADF7FF99F93}"/>
              </a:ext>
            </a:extLst>
          </p:cNvPr>
          <p:cNvSpPr/>
          <p:nvPr/>
        </p:nvSpPr>
        <p:spPr>
          <a:xfrm>
            <a:off x="9680734" y="1162120"/>
            <a:ext cx="889635" cy="15478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 descr="Изображение выглядит как текст, Шрифт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9F5049-66EE-3A7D-17D3-0F728C002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539" y="3642226"/>
            <a:ext cx="3755877" cy="273050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99D8B2-EEC0-AE5C-A30F-32348C901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429" y="3534336"/>
            <a:ext cx="3592698" cy="278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326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AA0F-E704-4327-06FF-BF608E075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0D8ABC8-0B56-1F8A-5EA0-09A63D68A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14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6B716-73B1-48B7-A203-9138F3319E36}"/>
              </a:ext>
            </a:extLst>
          </p:cNvPr>
          <p:cNvSpPr txBox="1"/>
          <p:nvPr/>
        </p:nvSpPr>
        <p:spPr>
          <a:xfrm>
            <a:off x="1851891" y="104340"/>
            <a:ext cx="8488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Проектирование.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</a:t>
            </a: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-диаграмма. Справочники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0D7BB04-A2F6-2113-FD4D-3A7C7BC58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02" y="620323"/>
            <a:ext cx="10691813" cy="273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8D100CD-2D8F-5385-3EB7-8D26BD72A3F5}"/>
              </a:ext>
            </a:extLst>
          </p:cNvPr>
          <p:cNvSpPr/>
          <p:nvPr/>
        </p:nvSpPr>
        <p:spPr>
          <a:xfrm>
            <a:off x="2579029" y="1186174"/>
            <a:ext cx="5541170" cy="5176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текст, Шрифт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AF6195-EE20-3EFF-BEA0-904F87CC2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95" y="3444485"/>
            <a:ext cx="9850225" cy="1600423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01E721-356C-4696-202D-D41E550BD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039" y="5203207"/>
            <a:ext cx="7068536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8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56D7D-EDBA-3593-5E8D-41F75354E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30B745D-F25D-C029-64A4-746BD76B8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15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103E1-828C-942A-1B3E-B5CB1D4BB9E6}"/>
              </a:ext>
            </a:extLst>
          </p:cNvPr>
          <p:cNvSpPr txBox="1"/>
          <p:nvPr/>
        </p:nvSpPr>
        <p:spPr>
          <a:xfrm>
            <a:off x="1552129" y="104340"/>
            <a:ext cx="9087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Проектирование.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</a:t>
            </a: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-диаграмма. Комплектующие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731F5E-E110-D082-8667-C899347F5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10" y="566005"/>
            <a:ext cx="10691813" cy="273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77C5C13-0FC0-5C2F-D8C0-A0D57824BB35}"/>
              </a:ext>
            </a:extLst>
          </p:cNvPr>
          <p:cNvSpPr/>
          <p:nvPr/>
        </p:nvSpPr>
        <p:spPr>
          <a:xfrm>
            <a:off x="289711" y="1819326"/>
            <a:ext cx="7977188" cy="887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F66E9A1-6700-538B-C571-55BE3B10B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11" y="3417720"/>
            <a:ext cx="10691813" cy="1261534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число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3744AB-50EB-24C9-0AC5-CBF2A8B9D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055" y="4800469"/>
            <a:ext cx="7142411" cy="184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8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C7F3-905E-F2FE-8D5B-F0CCF1DC9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8A45ED-80B6-99DB-8AAD-1CDBF2C36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16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B5B4A-9EE6-9B5A-D6B6-60B126FFF453}"/>
              </a:ext>
            </a:extLst>
          </p:cNvPr>
          <p:cNvSpPr txBox="1"/>
          <p:nvPr/>
        </p:nvSpPr>
        <p:spPr>
          <a:xfrm>
            <a:off x="1136951" y="104340"/>
            <a:ext cx="9918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Проектирование.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</a:t>
            </a:r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-диаграмма. «Многие ко многим»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3E578F5-8CCF-CCEF-9D11-02999A30E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81" y="807136"/>
            <a:ext cx="10691813" cy="273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6317D5F-B653-7541-B882-646696797212}"/>
              </a:ext>
            </a:extLst>
          </p:cNvPr>
          <p:cNvSpPr/>
          <p:nvPr/>
        </p:nvSpPr>
        <p:spPr>
          <a:xfrm>
            <a:off x="5680232" y="2976281"/>
            <a:ext cx="1638300" cy="5824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6AD25E-DD08-E8DF-D7A4-97946A108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495" y="4001914"/>
            <a:ext cx="6863010" cy="225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4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15477-287D-D600-6E4A-7A9F79D1E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85AF7F2-0125-C1A9-CEC6-90BC7D54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17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99E66-A274-907A-DD75-62D21250CA2F}"/>
              </a:ext>
            </a:extLst>
          </p:cNvPr>
          <p:cNvSpPr txBox="1"/>
          <p:nvPr/>
        </p:nvSpPr>
        <p:spPr>
          <a:xfrm>
            <a:off x="1990556" y="104340"/>
            <a:ext cx="8210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Проектирование. Диаграмма развертывания</a:t>
            </a:r>
          </a:p>
        </p:txBody>
      </p:sp>
      <p:pic>
        <p:nvPicPr>
          <p:cNvPr id="6" name="Рисунок 5" descr="Изображение выглядит как текст, диаграмма, План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7D002A-128D-BB8C-D7B7-0FA2FB555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6" y="852970"/>
            <a:ext cx="10982945" cy="571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6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1965B-D5BF-8737-33BB-3FB3E246E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5111945-E184-737F-A6D2-61B34A0B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18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4F806-6C08-7A38-6537-8863E80299B3}"/>
              </a:ext>
            </a:extLst>
          </p:cNvPr>
          <p:cNvSpPr txBox="1"/>
          <p:nvPr/>
        </p:nvSpPr>
        <p:spPr>
          <a:xfrm>
            <a:off x="4841489" y="104340"/>
            <a:ext cx="2509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Сбор данных</a:t>
            </a:r>
          </a:p>
        </p:txBody>
      </p:sp>
      <p:pic>
        <p:nvPicPr>
          <p:cNvPr id="4" name="Рисунок 3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F205AB1-A3FF-A012-C8EF-37B218247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04" y="719353"/>
            <a:ext cx="10628768" cy="567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7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551E6-240C-F8AB-FA4A-B742EA735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A2DFAC0-9D85-564B-91EB-D56AE892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19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81626-2EC3-7483-D03E-EF82250ABCAD}"/>
              </a:ext>
            </a:extLst>
          </p:cNvPr>
          <p:cNvSpPr txBox="1"/>
          <p:nvPr/>
        </p:nvSpPr>
        <p:spPr>
          <a:xfrm>
            <a:off x="4841489" y="104340"/>
            <a:ext cx="2509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Сбор данных</a:t>
            </a:r>
          </a:p>
        </p:txBody>
      </p:sp>
      <p:pic>
        <p:nvPicPr>
          <p:cNvPr id="8" name="Рисунок 7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BF5715-5816-A9D4-0EBD-137B77B3C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04" y="796357"/>
            <a:ext cx="5068007" cy="5029902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BDD4A8-6D08-0D23-E304-BFD8B1B7B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262" y="796357"/>
            <a:ext cx="4667901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7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DC3B-FF9F-AF2B-D107-10FED248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185618E-BD6E-B16B-C187-1FE4E1AF5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20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64C89-A5B4-8162-85D9-3CD33142C68F}"/>
              </a:ext>
            </a:extLst>
          </p:cNvPr>
          <p:cNvSpPr txBox="1"/>
          <p:nvPr/>
        </p:nvSpPr>
        <p:spPr>
          <a:xfrm>
            <a:off x="4841489" y="104340"/>
            <a:ext cx="2509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Сбор данных</a:t>
            </a:r>
          </a:p>
        </p:txBody>
      </p:sp>
      <p:pic>
        <p:nvPicPr>
          <p:cNvPr id="4" name="Рисунок 3" descr="Изображение выглядит как текст, снимок экрана, меню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B668F1-78BF-9E8D-DC61-7B6D4D69D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64" y="664327"/>
            <a:ext cx="10940871" cy="5438815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, Цвет электр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87E7A4-214B-B0D8-0BBD-CFE62EF5C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57" y="3896891"/>
            <a:ext cx="10818891" cy="27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70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F1C3C-3558-5588-F1A3-15DA9480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91CB35E-B9B3-CD60-618F-F43D3218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21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6EF5D-93FB-5FEA-8DF0-FEB6FF992FDB}"/>
              </a:ext>
            </a:extLst>
          </p:cNvPr>
          <p:cNvSpPr txBox="1"/>
          <p:nvPr/>
        </p:nvSpPr>
        <p:spPr>
          <a:xfrm>
            <a:off x="4841489" y="104340"/>
            <a:ext cx="2509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Сбор данных</a:t>
            </a:r>
          </a:p>
        </p:txBody>
      </p:sp>
      <p:pic>
        <p:nvPicPr>
          <p:cNvPr id="6" name="Рисунок 5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FD1A30-8C32-5BA7-EAE9-E4680392E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42" y="665593"/>
            <a:ext cx="10463666" cy="592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8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9489-12D3-32EA-B78C-88007DE8B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9CFADC9-B0F7-AECE-25A4-9351C1E9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22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37B90-9F2A-5A4E-08AA-6A0BB6A8063A}"/>
              </a:ext>
            </a:extLst>
          </p:cNvPr>
          <p:cNvSpPr txBox="1"/>
          <p:nvPr/>
        </p:nvSpPr>
        <p:spPr>
          <a:xfrm>
            <a:off x="4841489" y="104340"/>
            <a:ext cx="2509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Сбор данных</a:t>
            </a:r>
          </a:p>
        </p:txBody>
      </p:sp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548DB0-B3C7-2A87-592B-4F7F7221B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45" y="1626441"/>
            <a:ext cx="3962459" cy="3342248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меню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300048-A24F-5BAB-304B-0927AD2E5B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68"/>
          <a:stretch>
            <a:fillRect/>
          </a:stretch>
        </p:blipFill>
        <p:spPr>
          <a:xfrm>
            <a:off x="5549363" y="1626440"/>
            <a:ext cx="2577510" cy="3407177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B39E3C-966D-4FB5-6504-E32966DE4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933" y="1626441"/>
            <a:ext cx="2469632" cy="340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5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F8D09-B6FE-EF66-8E68-88227B52E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A9CBF61-B5EF-B3E1-D897-F5351ADF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1" y="6259484"/>
            <a:ext cx="590400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23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45F2E-1D29-359D-97F4-85DE7FE870F7}"/>
              </a:ext>
            </a:extLst>
          </p:cNvPr>
          <p:cNvSpPr txBox="1"/>
          <p:nvPr/>
        </p:nvSpPr>
        <p:spPr>
          <a:xfrm>
            <a:off x="4064838" y="122447"/>
            <a:ext cx="4062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Выполненные задачи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88330-D8DC-34D5-6227-1252FA5A4A5A}"/>
              </a:ext>
            </a:extLst>
          </p:cNvPr>
          <p:cNvSpPr txBox="1"/>
          <p:nvPr/>
        </p:nvSpPr>
        <p:spPr>
          <a:xfrm>
            <a:off x="250726" y="661286"/>
            <a:ext cx="11790478" cy="5398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Провести исследование существующих решений в области мониторинга и учета аппаратных средств, анализа конфигураций и проверки совместимости комплектующих.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Сформулировать функциональные и нефункциональные требования к разрабатываемому модулю.</a:t>
            </a:r>
            <a:endParaRPr lang="en-US" sz="16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Обосновать экономическую эффективность разрабатываемого модуля.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Разработать архитектуру модуля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 определить взаимодействие с существующей системой учёта аппаратных средств через REST API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 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подключение к БД.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Определить модель данных для хранения сведений о характеристиках комплектующих ЭВМ (для обеспечения логики совместимости), результатах сетевого опроса.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Осуществить сбор данных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для заполнения базы знаний о характеристиках комплектующих.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Реализовать алгоритм проверки совместимости комплектующих ПК и настройку соответствующих правил. 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Реализовать механизм сетевого сбора информации о состоянии компьютерных устройств.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Разработать алгоритм поиска оптимальных компьютеров-доноров на основе анализа статистики использования, совместимости деталей и данных системы учета.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Разработать интерфейс с целью отображения рекомендаций, предупреждений и аналитических отчётов для ИТ-персонала.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Провести тестирование модуля и оценить корректность рекомендаций по подбору комплектующих.</a:t>
            </a:r>
          </a:p>
          <a:p>
            <a:pPr marL="342900" lvl="0" indent="-342900" algn="just">
              <a:lnSpc>
                <a:spcPct val="114000"/>
              </a:lnSpc>
              <a:buFont typeface="+mj-lt"/>
              <a:buAutoNum type="arabicPeriod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Подготовить документацию и провести интеграцию модуля в основную систему учёта оборудования предприятия.</a:t>
            </a:r>
          </a:p>
        </p:txBody>
      </p:sp>
    </p:spTree>
    <p:extLst>
      <p:ext uri="{BB962C8B-B14F-4D97-AF65-F5344CB8AC3E}">
        <p14:creationId xmlns:p14="http://schemas.microsoft.com/office/powerpoint/2010/main" val="673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EB8DA-E3EC-6D89-9C41-C4542A716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6DDBF95-6B06-B382-BA43-372F65F5A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24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9E5EA4-94EB-F551-C4CC-902BD8957C90}"/>
              </a:ext>
            </a:extLst>
          </p:cNvPr>
          <p:cNvSpPr txBox="1"/>
          <p:nvPr/>
        </p:nvSpPr>
        <p:spPr>
          <a:xfrm>
            <a:off x="1944409" y="2742859"/>
            <a:ext cx="83031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latin typeface="Verdana" panose="020B0604030504040204" pitchFamily="34" charset="0"/>
                <a:ea typeface="Verdana" panose="020B060403050404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0965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36812-6A50-AF05-C28B-F99260AD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F7D1CBD-FDE2-07E5-48FB-7C22DE51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25</a:t>
            </a:fld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42E0D3-68E8-A07E-432A-692F0B6CB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538" y="22997"/>
            <a:ext cx="4237526" cy="678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84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D40EA-E4AD-4BD6-0971-9A8B0B31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3382E86-E316-AA1E-D27A-0B80D11B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26</a:t>
            </a:fld>
            <a:endParaRPr lang="ru-RU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5402D77-8610-F4D0-CE69-6D00CF476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689" y="42031"/>
            <a:ext cx="5925525" cy="6779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873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BC1EB-8049-A19E-A39C-F663C54CA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7B15A4D-87E9-6D0E-F111-E1EB00099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27</a:t>
            </a:fld>
            <a:endParaRPr lang="ru-RU" dirty="0"/>
          </a:p>
        </p:txBody>
      </p:sp>
      <p:pic>
        <p:nvPicPr>
          <p:cNvPr id="3" name="Рисунок 2" descr="Изображение выглядит как диаграмма, текст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3F16FA-3848-59AF-9981-3BDD5AA05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173" y="52387"/>
            <a:ext cx="7471654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3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B02BF-F0E0-B11E-184E-ACF6CD929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E49EBF6-2AA7-05E0-77A6-9F795A73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28</a:t>
            </a:fld>
            <a:endParaRPr lang="ru-RU" dirty="0"/>
          </a:p>
        </p:txBody>
      </p:sp>
      <p:pic>
        <p:nvPicPr>
          <p:cNvPr id="4" name="Рисунок 3" descr="Изображение выглядит как текст, диаграмма, линия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9304A0-42F8-5194-8A6F-EE48A8A91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405" y="68439"/>
            <a:ext cx="9989189" cy="5005937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линия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2D058F-9510-0952-A757-035E2C6C3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488" y="4903270"/>
            <a:ext cx="4315024" cy="193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8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D52FE-D817-A404-5002-17B0AE7E5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A07D46A-0323-6F18-E01B-2AAB3400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29</a:t>
            </a:fld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55DF2A-1E46-F10A-645B-F54579133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046" y="36125"/>
            <a:ext cx="3057952" cy="2400635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линия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91CE1F9-6F25-3944-A2A4-C0D0D8FCB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16" y="2342657"/>
            <a:ext cx="10691813" cy="224864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линия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F5249A-8160-342B-A918-3BFA293E3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73" y="4609404"/>
            <a:ext cx="10401300" cy="211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3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3871A-84D9-B8E8-153B-744A818C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473365B-3B27-84E4-D97A-0C2890C63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930" y="6259484"/>
            <a:ext cx="589628" cy="461991"/>
          </a:xfrm>
        </p:spPr>
        <p:txBody>
          <a:bodyPr/>
          <a:lstStyle/>
          <a:p>
            <a:fld id="{CC1CACCF-8269-4153-8ABB-00B2B666CCE5}" type="slidenum">
              <a:rPr lang="ru-RU" smtClean="0"/>
              <a:t>30</a:t>
            </a:fld>
            <a:endParaRPr lang="ru-RU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09BCCDF-212B-ABC7-CC90-898721847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84" y="73823"/>
            <a:ext cx="10378289" cy="664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59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7512</TotalTime>
  <Words>883</Words>
  <Application>Microsoft Office PowerPoint</Application>
  <PresentationFormat>Широкоэкранный</PresentationFormat>
  <Paragraphs>187</Paragraphs>
  <Slides>30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8" baseType="lpstr">
      <vt:lpstr>Google Sans Text</vt:lpstr>
      <vt:lpstr>Montserrat Bold</vt:lpstr>
      <vt:lpstr>Arial</vt:lpstr>
      <vt:lpstr>Calibri</vt:lpstr>
      <vt:lpstr>Calibri Light</vt:lpstr>
      <vt:lpstr>Montserrat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Металлистическая теория денег</dc:title>
  <dc:creator>Илья Родионов</dc:creator>
  <cp:lastModifiedBy>forum98761@gmail.com</cp:lastModifiedBy>
  <cp:revision>443</cp:revision>
  <dcterms:created xsi:type="dcterms:W3CDTF">2023-03-02T11:56:57Z</dcterms:created>
  <dcterms:modified xsi:type="dcterms:W3CDTF">2026-02-23T10:57:07Z</dcterms:modified>
</cp:coreProperties>
</file>